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457200"/>
            <a:ext cx="2834640" cy="2834640"/>
          </a:xfrm>
          <a:prstGeom prst="ellipse">
            <a:avLst/>
          </a:prstGeom>
          <a:solidFill>
            <a:srgbClr val="1C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281160" y="1051560"/>
            <a:ext cx="1828800" cy="1828800"/>
          </a:xfrm>
          <a:prstGeom prst="ellipse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02368" y="1572768"/>
            <a:ext cx="786384" cy="786384"/>
          </a:xfrm>
          <a:prstGeom prst="ellipse">
            <a:avLst/>
          </a:prstGeom>
          <a:solidFill>
            <a:srgbClr val="30C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640080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CACF"/>
                </a:solidFill>
                <a:latin typeface="Aptos"/>
              </a:rPr>
              <a:t>PROJECT OVERVIEW • TECHNICAL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7132320" cy="7315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6F9FF"/>
                </a:solidFill>
                <a:latin typeface="Aptos"/>
              </a:rPr>
              <a:t>APIFix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67712"/>
            <a:ext cx="6766560" cy="9601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0">
                <a:solidFill>
                  <a:srgbClr val="AEBED4"/>
                </a:solidFill>
                <a:latin typeface="Aptos"/>
              </a:rPr>
              <a:t>Test APIs. Find evidence. Understand failures. Verify fixes.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566160"/>
            <a:ext cx="6858000" cy="6858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6F9FF"/>
                </a:solidFill>
                <a:latin typeface="Aptos"/>
              </a:rPr>
              <a:t>A documentation-grounded AI assistant for API debugging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00600"/>
            <a:ext cx="1371600" cy="347472"/>
          </a:xfrm>
          <a:prstGeom prst="round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4855464"/>
            <a:ext cx="1335024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9FF"/>
                </a:solidFill>
                <a:latin typeface="Aptos"/>
              </a:rPr>
              <a:t>TEST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22576" y="4800600"/>
            <a:ext cx="1371600" cy="347472"/>
          </a:xfrm>
          <a:prstGeom prst="round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40864" y="4855464"/>
            <a:ext cx="1335024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9FF"/>
                </a:solidFill>
                <a:latin typeface="Aptos"/>
              </a:rPr>
              <a:t>RETRIEVE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95344" y="4800600"/>
            <a:ext cx="1371600" cy="347472"/>
          </a:xfrm>
          <a:prstGeom prst="round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13631" y="4855464"/>
            <a:ext cx="1335024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9FF"/>
                </a:solidFill>
                <a:latin typeface="Aptos"/>
              </a:rPr>
              <a:t>DIAGNOSE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4800600"/>
            <a:ext cx="1371600" cy="347472"/>
          </a:xfrm>
          <a:prstGeom prst="round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4855464"/>
            <a:ext cx="1335024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6F9FF"/>
                </a:solidFill>
                <a:latin typeface="Aptos"/>
              </a:rPr>
              <a:t>RETEST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6080760"/>
            <a:ext cx="822960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EBED4"/>
                </a:solidFill>
                <a:latin typeface="Aptos"/>
              </a:rPr>
              <a:t>Architecture • dataset • chunking • RAG • AI fallback • security •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1. The problem we are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API debugging often means switching between a request client, code, logs and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22860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228600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Current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Send a request in an API client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Read status and response manually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Search docs and forums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Change code and repeat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22860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2286000"/>
          </a:xfrm>
          <a:prstGeom prst="rect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Pain 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Errors lack context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Documentation is spread out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Fixes are often guesses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Suggested changes may not be verified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22860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228600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APIFix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Test the endpoint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Retrieve official documentation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Explain likely causes with citations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Suggest a fix and retest with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434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30CACF"/>
                </a:solidFill>
                <a:latin typeface="Aptos"/>
              </a:rPr>
              <a:t>Core idea: connect observed API behavior + documentation evidence + an AI explanation in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2. Product goals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The MVP diagnoses and verifies; it does not silently change production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5349240" cy="30175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71600"/>
            <a:ext cx="68580" cy="30175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MVP must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938528"/>
            <a:ext cx="5056631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Accept method, URL, headers and optional body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Execute a test and capture evidence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Search indexed documentation/specifications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Stream diagnosis, citations and suggested code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Allow user-approved retesting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49240" cy="30175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8580" cy="3017520"/>
          </a:xfrm>
          <a:prstGeom prst="rect">
            <a:avLst/>
          </a:prstGeom>
          <a:solidFill>
            <a:srgbClr val="ED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MVP will not 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056631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Guarantee every diagnosis is correct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Assume every API is free or unrestricted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Execute arbitrary user code on the server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Silently edit production code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Retry unsafe state-changing requests without consent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6BE4B"/>
                </a:solidFill>
                <a:latin typeface="Aptos"/>
              </a:rPr>
              <a:t>Keep facts (observations), documentation (evidence), and AI inference (hypotheses) clearly separated.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3. Full end-to-end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Input → test → retrieve → diagnose → suggest → user-approved retest.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68580" cy="205740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01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Method, URL, headers, body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2852928"/>
            <a:ext cx="210313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30552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30552" y="1874519"/>
            <a:ext cx="68580" cy="205740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95144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02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95144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FastAPI validates; HTTPX sends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47872" y="2852928"/>
            <a:ext cx="21031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03904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03904" y="1874519"/>
            <a:ext cx="68580" cy="2057400"/>
          </a:xfrm>
          <a:prstGeom prst="rect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68496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03 OBSERVE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8496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Status, headers, body, latency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21224" y="2852928"/>
            <a:ext cx="21031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77256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77256" y="1874519"/>
            <a:ext cx="68580" cy="205740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1848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04 RETRIEVE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Search documentation chunks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94576" y="2852928"/>
            <a:ext cx="21031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50608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50608" y="1874519"/>
            <a:ext cx="68580" cy="205740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05 DIAGNOSE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LLM streams grounded answer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67928" y="2852928"/>
            <a:ext cx="21031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823960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23960" y="1874519"/>
            <a:ext cx="68580" cy="205740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88552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06 SUGGEST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88552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Proposed Axios / Fetch fix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241280" y="2852928"/>
            <a:ext cx="21031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0497312" y="1874519"/>
            <a:ext cx="1417320" cy="20574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497312" y="1874519"/>
            <a:ext cx="68580" cy="205740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61904" y="1993391"/>
            <a:ext cx="114300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6F9FF"/>
                </a:solidFill>
                <a:latin typeface="Aptos"/>
              </a:rPr>
              <a:t>07 RETEST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441448"/>
            <a:ext cx="1124712" cy="1417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Compare result after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480560"/>
            <a:ext cx="10698480" cy="6400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6F9FF"/>
                </a:solidFill>
                <a:latin typeface="Aptos"/>
              </a:rPr>
              <a:t>The model receives the actual test result and retrieved documentation—not only the user's error description.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4. What the user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A structured request makes testing reproducible.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33756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Request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HTTP method: GET / POST / etc.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Endpoint URL and query parameters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Headers and auth (masked)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Optional JSON/text body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Timeout and expected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33756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Debugging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Observed error message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Relevant Axios / Fetch code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OpenAPI spec or documentation URL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Expected behavior / response schema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Optional notes from developer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33756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GET https://postman-echo.com/get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Accept: application/json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Expected: HTTP 200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Question: why does another endpoint return 401?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Do not paste production secrets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Credentials and personal data must be redacted before logging or sending context to a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5. What the user receives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Separate actual observations from AI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69748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90472"/>
            <a:ext cx="242316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A • Test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240487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HTTP status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Response headers/body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Latency / timeout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Request 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371600"/>
            <a:ext cx="269748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490472"/>
            <a:ext cx="242316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B •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38528"/>
            <a:ext cx="240487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Likely causes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Observed evidence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Doc citations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Uncertainty / next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371600"/>
            <a:ext cx="269748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0216" y="1371600"/>
            <a:ext cx="68580" cy="32461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1490472"/>
            <a:ext cx="242316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C • Suggested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1938528"/>
            <a:ext cx="240487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Axios / Fetch patch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Header/body changes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Reason for changes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No secret values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4" y="1371600"/>
            <a:ext cx="2487168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1371600"/>
            <a:ext cx="68580" cy="324612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1490472"/>
            <a:ext cx="2212848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D •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1938528"/>
            <a:ext cx="2194560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Retest status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Before/after diff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Pass / fail / unclear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Next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A diagnosis is not proof of a fix. Verification requires a fresh test with the approved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6.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Choose a simple stack that supports the full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24231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242316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React + Vite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Tailwind CSS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Streaming UI via SSE / fetch reader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Request builder + result viewer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24231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242316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Backend +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Python + FastAPI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HTTPX: direct HTTP requests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Playwright: browser-level behavior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Pydantic validation + SSE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24231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242316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Data +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1783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Supabase PostgreSQL + pgvector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MiniLM embeddings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Gemini + Groq GPT-OSS 20B + Mistral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Hybrid RAG + model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6F9FF"/>
                </a:solidFill>
                <a:latin typeface="Aptos"/>
              </a:rPr>
              <a:t>No separate Qdrant service is needed for the MVP. Supabase is the hosted platform, PostgreSQL is the database engine, and pgvector is the vector-search extension.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7. Three-model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Use model IDs as configuration values and verify current availability before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AI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26517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265176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1 • Primary: 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Provider: Google Gemini API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Model ID: gemini-3.5-flash-lite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Fast first-pass diagnosis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Quota depends on API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26517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265176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2 • Fallback: GPT-OSS 20B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Provider: GroqCloud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Model ID: openai/gpt-oss-20b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OpenAI model hosted by Groq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Not an xAI Grok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26517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265176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3 • Fallback: Mistral Small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0116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Provider: Mistral API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Example ID: mistral-small-2506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Check current account model catalogue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Use as final provider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607040" cy="6858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6BE4B"/>
                </a:solidFill>
                <a:latin typeface="Aptos"/>
              </a:rPr>
              <a:t>Naming clarification: Grok is xAI; Groq is an inference provider. GPT-OSS 20B on Groq is not a Grok model.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AEBED4"/>
                </a:solidFill>
                <a:latin typeface="Aptos"/>
              </a:rPr>
              <a:t>Fallback handles eligible 429 / temporary 5xx / timeout errors. It cannot guarantee service if every provider is quota-limited.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8. Dataset: three different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RAG knowledge base ≠ test endpoints ≠ labelled evaluation dataset.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33756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A • RAG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APIs.guru OpenAPI Directory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Swagger Petstore OpenAPI JSON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MDN HTTP status + CORS docs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Official Axios, HTTPX, FastAPI, Playwright docs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Track source URL, version and license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33756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B • Test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Postman Echo: inspect request behavior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Swagger Petstore: demo API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JSONPlaceholder: sample REST resources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Local mock API for reproducible failures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Check terms and rate limits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33756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33756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 • Evaluation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97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Create 50 labelled cases first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Grow toward 100+ cases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diagnosis + source evidence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test / retest behavior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Must-not-claim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BE4B"/>
                </a:solidFill>
                <a:latin typeface="Aptos"/>
              </a:rPr>
              <a:t>No single public dataset completely labels every API error, root cause and verified fix; create the evaluation set as a project asset.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9. How we acquire and prepare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Use official, machine-readable sources and preserve provenance.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DATA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606040" cy="292608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68580" cy="292608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1 • Download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12848"/>
            <a:ext cx="2313432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OpenAPI JSON/YAML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Official docs pages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PDF guides if needed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1645920"/>
            <a:ext cx="2606040" cy="292608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645920"/>
            <a:ext cx="68580" cy="292608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2 • Parse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12848"/>
            <a:ext cx="2313432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Extract operations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Parse headings / paragraphs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PDF text + page numbers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8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645920"/>
            <a:ext cx="2606040" cy="292608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645920"/>
            <a:ext cx="68580" cy="292608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3 • Enrich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212848"/>
            <a:ext cx="2313432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Source URL + title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API version / method / path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Section, page, date, license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06256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53144" y="1645920"/>
            <a:ext cx="2606040" cy="292608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645920"/>
            <a:ext cx="68580" cy="292608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4 •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212848"/>
            <a:ext cx="2313432" cy="2286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Create chunks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Generate embeddings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Store vectors + metadata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Evaluate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30CACF"/>
                </a:solidFill>
                <a:latin typeface="Aptos"/>
              </a:rPr>
              <a:t>Start links: github.com/APIs-guru/openapi-directory • petstore3.swagger.io/api/v3/openapi.json • learning.postman.com/docs/developer/echo-api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10. Chunking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Use structure-aware chunking instead of one fixed splitter for every document.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RAG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OpenAPI JSON / 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One logical chunk per operation where possible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Keep method + path + description together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Include auth, parameters, request/response schemas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Split oversized operations logically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Prose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Split by headings and paragraphs first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Recursively split oversized sections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Start around 180–230 tokenizer tokens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Use 30–40 token overlap when useful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PDF / long guides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Extract text by page; preserve page number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Keep headings with nearby explanation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OCR scanned pages when needed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Keep code samples with explanations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607040" cy="54864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BE4B"/>
                </a:solidFill>
                <a:latin typeface="Aptos"/>
              </a:rPr>
              <a:t>Embedding model: sentence-transformers/all-MiniLM-L6-v2 → 384-dimensional vectors. Its typical 256-token input limit makes token-aware chunking important.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11. RAG method: 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Start with a baseline, then add complexity only if evaluation shows improvement.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RAG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Step 1 • Build query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Question + actual status/error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Method/path + API name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Apply API/version metadata filters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Never include raw secrets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Step 2 •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Dense semantic vector search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Keyword search for codes / paths / exact terms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Fuse rankings using Reciprocal Rank Fusion (RRF)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Return top 5–8 chunks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Step 3 • Ground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Pass test result + evidence to LLM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Require citations for key claims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Admit when evidence is insufficient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Treat retrieved text as data, not 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CACF"/>
                </a:solidFill>
                <a:latin typeface="Aptos"/>
              </a:rPr>
              <a:t>RAG = Retrieval-Augmented Generation. Hybrid = semantic search + keyword search; RRF combines their ranked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12. Embeddings + Supabase pgvector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One managed database can store app records and searchable vector embeddings.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RAG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0175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0175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Embedding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Chunk text → MiniLM encoder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Output: 384-number vector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Use same encoder for query and corpus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Version the embedding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0175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0175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Supabase hosts PostgreSQL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Enable pgvector extension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Store vectors + metadata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Filter by API / version / method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0175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0175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Retrieval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3774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Top relevant chunks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Source URL / section / page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Rank or similarity details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Context for the selected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10607040" cy="6400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No separate Qdrant required in the MVP. Keep original OpenAPI/PDF files separately; the database holds searchable chunks and metadata.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13. Testing engine: HTTPX + Playwright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Use the right tool for the right layer.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3492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HTTPX • direct HTTP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056631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Send requests from FastAPI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Capture status, headers, body and duration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Use timeouts and response-size limits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Best for backend-level endpoint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492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Playwright • browser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056631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Real browser context when needed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Investigate CORS, cookies, redirects and UI integration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Capture browser console/network evidence</a:t>
            </a:r>
          </a:p>
          <a:p>
            <a:pPr>
              <a:spcAft>
                <a:spcPts val="500"/>
              </a:spcAft>
              <a:defRPr sz="1300">
                <a:solidFill>
                  <a:srgbClr val="AEBED4"/>
                </a:solidFill>
                <a:latin typeface="Aptos"/>
              </a:defRPr>
            </a:pPr>
            <a:r>
              <a:t>•  Run in isolated controlled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10607040" cy="4572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A server-side HTTPX request does not reproduce browser CORS enforcement. Browser-specific claims require browser evidence.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14. How the AI receives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The model should explain evidence, not invent a root cause.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AI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349240" cy="329184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9184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Context sent to selected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5056631" cy="2651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Sanitized question / code snippet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Observed method, status, latency and safe request details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Size-limited, redacted response headers/body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Top retrieved documentation chunks + source IDs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Expected structured output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349240" cy="329184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68580" cy="329184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904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Expected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5056631" cy="2651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Summary and ranked likely causes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Observed facts separated from inference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Documentation citations for key claims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Suggested patch + explanation</a:t>
            </a:r>
          </a:p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Verification steps and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Prompt rule: if evidence does not prove the cause, label it a hypothesis and explain how to verify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15. Streaming and quota fallback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Streaming makes output responsive; fallback handles eligible provider failures.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AI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FastAPI forwards output via SSE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React renders text as it arrives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Events: start, token, citation, done, error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Handle cancellation/disconnect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Try Gemini first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Eligible failure → Groq GPT-OSS 20B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If still failing → Mistral Small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Log provider, latency and failure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ED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Avoid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Never silently splice answers mid-stream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Do not blindly retry invalid keys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Do not repeat unsafe POST/DELETE requests blindly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Return clear error if all providers fail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BE4B"/>
                </a:solidFill>
                <a:latin typeface="Aptos"/>
              </a:rPr>
              <a:t>If failure occurs after output begins, end that attempt and clearly restart or report an error—do not merge model answers invisibly.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16. Example: diagnosing a 401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Illustrative flow; actual root cause must be grounded in the real response and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2606040" cy="2971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68580" cy="297180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1 •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12848"/>
            <a:ext cx="2313432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GET /v1/profile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Authorization header omitted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authenticated profile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47288" y="1645920"/>
            <a:ext cx="2606040" cy="2971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7288" y="1645920"/>
            <a:ext cx="68580" cy="2971800"/>
          </a:xfrm>
          <a:prstGeom prst="rect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2 • 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212848"/>
            <a:ext cx="2313432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HTTP 401 response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Capture response + headers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Redact credentials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3328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0216" y="1645920"/>
            <a:ext cx="2606040" cy="2971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0216" y="1645920"/>
            <a:ext cx="68580" cy="297180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3 • Retrieve + diagnose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212848"/>
            <a:ext cx="2313432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Fetch official auth docs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Compare required header format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Cite evidence; list likely causes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06256" y="3063240"/>
            <a:ext cx="192024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53144" y="1645920"/>
            <a:ext cx="2606040" cy="2971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53144" y="1645920"/>
            <a:ext cx="68580" cy="297180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17736" y="1764792"/>
            <a:ext cx="23317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4 •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2212848"/>
            <a:ext cx="2313432" cy="2331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Suggest header/code change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User approves retest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Compare new 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749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Do not claim 'token expired' unless the response or other evidence supports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17. Security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An API tester can become an SSRF or secret-leak risk without safeguards.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ED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SSRF / outbound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Block localhost/private/link-local IPs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Block cloud metadata addresses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Validate DNS and re-check redirects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Allowlist demo hosts in early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Credentials /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Never log raw API keys or cookies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Redact secrets and personal fields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Limit response size and retention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Keep provider keys server-side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Execution / side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Require approval for state-changing requests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Default to safe demo GET/HEAD tests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Set timeouts, concurrency and rate limits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No arbitrary code 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Start with controlled demo APIs; enable arbitrary URLs only after robust network and redirect validation.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18. Evaluation: how we know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Measure retrieval, grounding and retest behavior—not just whether the answer sounds convincing.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Test case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Start with 50 labelled cases; grow to 100+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401/403, 404, invalid body/schema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429, 5xx, timeout, DNS/TLS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CORS, cookies, redirects, pagination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Recall@5 / MRR for retrieval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Citation accuracy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Diagnosis correctness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Unsupported-claim rate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Retest outcome and latency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Labels per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Input + actual observation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diagnosis / alternatives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source evidence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Expected retest behavior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Must-not-claim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Keep a held-out test set so changes to chunking, retrieval and prompts can be compared fairly.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19. MVP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Prove the full loop first; improve accuracy with measured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68580" cy="324612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Phase 1 •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Request form + HTTPX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One documentation source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MiniLM + Supabase pgvector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Gemini diagnosis + citations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Basic streaming and safe retest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371600"/>
            <a:ext cx="68580" cy="3246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Phase 2 • Reliability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Groq and Mistral fallback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Hybrid retrieval + RRF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Playwright browser checks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50–100 labelled cases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Latency/error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520440" cy="324612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371600"/>
            <a:ext cx="68580" cy="324612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490472"/>
            <a:ext cx="32461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Phase 3 • Improve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1938528"/>
            <a:ext cx="3227832" cy="2606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Reranking if metrics justify it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More docs + refresh jobs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Version-aware indexing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Saved runs / team workspaces</a:t>
            </a:r>
          </a:p>
          <a:p>
            <a:pPr>
              <a:spcAft>
                <a:spcPts val="500"/>
              </a:spcAft>
              <a:defRPr sz="1100">
                <a:solidFill>
                  <a:srgbClr val="AEBED4"/>
                </a:solidFill>
                <a:latin typeface="Aptos"/>
              </a:defRPr>
            </a:pPr>
            <a:r>
              <a:t>•  Security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30CACF"/>
                </a:solidFill>
                <a:latin typeface="Aptos"/>
              </a:rPr>
              <a:t>Do not add a reranker or extra infrastructure before the baseline is measured.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20. Architecture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The full path from request to grounded diagnosis and verified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1965960" cy="914400"/>
          </a:xfrm>
          <a:prstGeom prst="roundRect">
            <a:avLst/>
          </a:prstGeom>
          <a:solidFill>
            <a:srgbClr val="1C2F4D"/>
          </a:solidFill>
          <a:ln>
            <a:solidFill>
              <a:srgbClr val="367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773936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React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2084831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Request + error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05456" y="2103120"/>
            <a:ext cx="16459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0" y="1645920"/>
            <a:ext cx="1965960" cy="914400"/>
          </a:xfrm>
          <a:prstGeom prst="roundRect">
            <a:avLst/>
          </a:prstGeom>
          <a:solidFill>
            <a:srgbClr val="1C2F4D"/>
          </a:solidFill>
          <a:ln>
            <a:solidFill>
              <a:srgbClr val="27A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064" y="1773936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98064" y="2084831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Validate + orchestrate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45736" y="2103120"/>
            <a:ext cx="16459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983480" y="1645920"/>
            <a:ext cx="1965960" cy="914400"/>
          </a:xfrm>
          <a:prstGeom prst="roundRect">
            <a:avLst/>
          </a:prstGeom>
          <a:solidFill>
            <a:srgbClr val="1C2F4D"/>
          </a:solidFill>
          <a:ln>
            <a:solidFill>
              <a:srgbClr val="F6B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38344" y="1773936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HTTPX / Playwright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8344" y="2084831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Test + observe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86016" y="2103120"/>
            <a:ext cx="16459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23760" y="1645920"/>
            <a:ext cx="1965960" cy="914400"/>
          </a:xfrm>
          <a:prstGeom prst="roundRect">
            <a:avLst/>
          </a:prstGeom>
          <a:solidFill>
            <a:srgbClr val="1C2F4D"/>
          </a:solidFill>
          <a:ln>
            <a:solidFill>
              <a:srgbClr val="367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1773936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Supabase pgvector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2084831"/>
            <a:ext cx="18562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Retrieve docs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26296" y="2103120"/>
            <a:ext cx="164592" cy="0"/>
          </a:xfrm>
          <a:prstGeom prst="line">
            <a:avLst/>
          </a:prstGeom>
          <a:ln w="21590">
            <a:solidFill>
              <a:srgbClr val="30CA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1645920"/>
            <a:ext cx="2194560" cy="914400"/>
          </a:xfrm>
          <a:prstGeom prst="roundRect">
            <a:avLst/>
          </a:prstGeom>
          <a:solidFill>
            <a:srgbClr val="1C2F4D"/>
          </a:solidFill>
          <a:ln>
            <a:solidFill>
              <a:srgbClr val="7E5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18904" y="1773936"/>
            <a:ext cx="20848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AI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4" y="2084831"/>
            <a:ext cx="2084831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Gemini → Groq → Mistral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337560"/>
            <a:ext cx="4069080" cy="123444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3337560"/>
            <a:ext cx="68580" cy="123444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3456432"/>
            <a:ext cx="379476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9792" y="3904487"/>
            <a:ext cx="3776472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Diagnosis + citations • suggested patch • approved retest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3337560"/>
            <a:ext cx="4069080" cy="123444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80" y="3337560"/>
            <a:ext cx="68580" cy="1234440"/>
          </a:xfrm>
          <a:prstGeom prst="rect">
            <a:avLst/>
          </a:prstGeom>
          <a:solidFill>
            <a:srgbClr val="F6B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33472" y="3456432"/>
            <a:ext cx="379476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6F9FF"/>
                </a:solidFill>
                <a:latin typeface="Aptos"/>
              </a:rPr>
              <a:t>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33472" y="3904487"/>
            <a:ext cx="3776472" cy="5943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AEBED4"/>
                </a:solidFill>
                <a:latin typeface="Aptos"/>
              </a:defRPr>
            </a:pPr>
            <a:r>
              <a:t>•  Redaction • SSRF protections • audit trail • evaluation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12080"/>
            <a:ext cx="10607040" cy="5029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6F9FF"/>
                </a:solidFill>
                <a:latin typeface="Aptos"/>
              </a:rPr>
              <a:t>Takeaway: APIFix AI connects actual API behavior with relevant documentation in a transparent fix-and-verify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References and starting dataset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Verify terms, API availability, model IDs and quotas before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APIs.guru OpenAPI Directory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https://github.com/APIs-guru/openapi-directory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OpenAPI catalogue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https://api.apis.guru/v2/list.json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25496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Swagger Petstore OpenAPI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72384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https://petstore3.swagger.io/api/v3/openapi.json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75304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Postman Echo docs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22191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https://learning.postman.com/docs/developer/echo-api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25112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MDN HTTP documentation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https://developer.mozilla.org/en-US/docs/Web/HTTP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Gemini 3.5 Flash-Lite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21808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https://ai.google.dev/gemini-api/docs/models/gemini-3.5-flash-lite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325880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Groq supported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572768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https://console.groq.com/docs/models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75688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Mistral model catalogue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22576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https://docs.mistral.ai/models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25496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Supabase pgvector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072384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https://supabase.com/docs/guides/database/extensions/pgvector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575304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MiniLM model 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822191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https://huggingface.co/sentence-transformers/all-MiniLM-L6-v2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325112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HTTPX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72000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https://www.python-httpx.org/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074920"/>
            <a:ext cx="5349240" cy="21945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0CACF"/>
                </a:solidFill>
                <a:latin typeface="Aptos"/>
              </a:rPr>
              <a:t>Playwright Python 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321808"/>
            <a:ext cx="5349240" cy="310896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AEBED4"/>
                </a:solidFill>
                <a:latin typeface="Aptos"/>
              </a:rPr>
              <a:t>https://playwright.dev/python/docs/intro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89320"/>
            <a:ext cx="1060704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6BE4B"/>
                </a:solidFill>
                <a:latin typeface="Aptos"/>
              </a:rPr>
              <a:t>Model IDs and free-tier quotas change; check provider consoles before presenting them as guaranteed.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3891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Presenter talk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789920" cy="27432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Use these lines as your walkthrough during the review.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95560" y="320040"/>
            <a:ext cx="1417320" cy="22860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SPEAKER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6459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5349240" cy="1828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25880"/>
            <a:ext cx="68580" cy="182880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44475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Opening +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892807"/>
            <a:ext cx="5056631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“APIFix AI is an API debugging assistant.”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“It combines a real request test, official documentation retrieval and AI-generated suggestions.”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“It starts with observed evidence, not only a chatbot prompt.”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349240" cy="1828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68580" cy="182880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44475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Architecture +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892807"/>
            <a:ext cx="5056631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“React collects request details; FastAPI validates and orchestrates.”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“HTTPX tests endpoints; Playwright is for browser-specific behavior.”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“Docs are chunked, embedded with MiniLM and indexed in Supabase pgvector.”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429000"/>
            <a:ext cx="5349240" cy="1828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3429000"/>
            <a:ext cx="68580" cy="1828800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5478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RAG +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995928"/>
            <a:ext cx="5056631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“We use hybrid retrieval: vector similarity plus keyword search, fused with RRF.”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“Gemini is primary; Groq-hosted GPT-OSS 20B and Mistral Small are fallbacks.”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“Streaming and fallback solve different problems.”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29000"/>
            <a:ext cx="5349240" cy="1828800"/>
          </a:xfrm>
          <a:prstGeom prst="roundRect">
            <a:avLst/>
          </a:prstGeom>
          <a:solidFill>
            <a:srgbClr val="1C2F4D"/>
          </a:solidFill>
          <a:ln>
            <a:solidFill>
              <a:srgbClr val="374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429000"/>
            <a:ext cx="68580" cy="1828800"/>
          </a:xfrm>
          <a:prstGeom prst="rect">
            <a:avLst/>
          </a:prstGeom>
          <a:solidFill>
            <a:srgbClr val="5BC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547872"/>
            <a:ext cx="5074920" cy="347472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6F9FF"/>
                </a:solidFill>
                <a:latin typeface="Aptos"/>
              </a:rPr>
              <a:t>Output +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995928"/>
            <a:ext cx="5056631" cy="11887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“The answer shows observations, citations, likely causes and a proposed fix.”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“The user approves retesting; the app does not silently change production systems.”</a:t>
            </a:r>
          </a:p>
          <a:p>
            <a:pPr>
              <a:spcAft>
                <a:spcPts val="500"/>
              </a:spcAft>
              <a:defRPr sz="1000">
                <a:solidFill>
                  <a:srgbClr val="AEBED4"/>
                </a:solidFill>
                <a:latin typeface="Aptos"/>
              </a:defRPr>
            </a:pPr>
            <a:r>
              <a:t>•  “We evaluate on labelled error cases and protect against SSRF and secret leakage.”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0607040" cy="320040"/>
          </a:xfrm>
          <a:prstGeom prst="rect">
            <a:avLst/>
          </a:prstGeom>
          <a:noFill/>
        </p:spPr>
        <p:txBody>
          <a:bodyPr wrap="square" lIns="54864" rIns="54864" tIns="32004" bIns="2286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6BE4B"/>
                </a:solidFill>
                <a:latin typeface="Aptos"/>
              </a:rPr>
              <a:t>Closing: “Our MVP proves the full loop first, then improves accuracy using measurable evaluation.”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8696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Knowledge-base dataset: columns +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RAG retrieves from these chunks. Each row keeps its source, version and licence so every citation can be traced.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29184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DATA • KNOWLEDGE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325880"/>
          <a:ext cx="6309360" cy="43891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42062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6F9FF"/>
                          </a:solidFill>
                          <a:latin typeface="Aptos"/>
                        </a:rPr>
                        <a:t>Column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6F9FF"/>
                          </a:solidFill>
                          <a:latin typeface="Aptos"/>
                        </a:rPr>
                        <a:t>What it means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chunk_id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Unique ID for one text chunk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source_type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official_doc, openapi_spec or pdf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source_url / source_title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Where the text came from; shown in citations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api_name / api_version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Metadata filter so v2 errors do not pull v1 docs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method / path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Set for OpenAPI operations; null for prose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section / page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Heading or PDF page for precise citation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license / retrieved_at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Terms check and download date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token_count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Target 180–230 tokens, 30–40 overlap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chunk_text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Text that is embedded and sent to the LLM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embedding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384-number vector (MiniLM) in pgvector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embedding_pipeline_version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AEBED4"/>
                          </a:solidFill>
                          <a:latin typeface="Aptos"/>
                        </a:rPr>
                        <a:t>Changes whenever chunking or embedding changes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086600" y="1325880"/>
            <a:ext cx="4553712" cy="4389120"/>
          </a:xfrm>
          <a:prstGeom prst="roundRect">
            <a:avLst>
              <a:gd name="adj" fmla="val 4000"/>
            </a:avLst>
          </a:prstGeom>
          <a:solidFill>
            <a:srgbClr val="1C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86600" y="1325880"/>
            <a:ext cx="68580" cy="4389120"/>
          </a:xfrm>
          <a:prstGeom prst="rect">
            <a:avLst/>
          </a:prstGeom>
          <a:solidFill>
            <a:srgbClr val="36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Example record (abridged)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19"/>
            <a:ext cx="4160520" cy="3291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{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"chunk_id": "KB-STATUS-0002",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"source_type": "official_doc",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"source_url": ".../Web/HTTP/Status/404",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"source_title": "404 Not Found (MDN)",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"api_name": "HTTP",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"section": "Status 404",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"license": "Check MDN content license",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"token_count": 95,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"chunk_text": "A 404 means the server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   cannot find the resource. Check the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   URL and resource ID.",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"embedding_model": "MiniLM-L6-v2",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  "embedding_dim": 384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212080"/>
            <a:ext cx="41605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F6BE4B"/>
                </a:solidFill>
                <a:latin typeface="Aptos"/>
              </a:rPr>
              <a:t>Chunk text is paraphrased for this example. Use the cited source's wording only within its licence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943600"/>
            <a:ext cx="630936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30CACF"/>
                </a:solidFill>
                <a:latin typeface="Aptos"/>
              </a:rPr>
              <a:t>Sample file: dataset/knowledge_base_sample.jsonl • Full guide: dataset/DATASET_GUIDE.md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8696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Test APIs and labelled evaluation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Test APIs produce the observations. Evaluation cases say what a correct diagnosis and fix should look like.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29184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DATA • TESTS + 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49377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API testing dataset (test_api_scenarios.csv)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645920"/>
          <a:ext cx="4937760" cy="1645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914400"/>
                <a:gridCol w="2103120"/>
                <a:gridCol w="11887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Method + URL (abridged)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Expected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TA-001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local mock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GET /v1/profile (no auth)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TA-005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local mock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GET /v1/search (after 100 calls)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429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TA-006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local mock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GET /v1/slow-report (5 s timeout)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timeout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TA-012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localhost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GET http://localhost:9/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blocked_by_policy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30352" y="3520440"/>
            <a:ext cx="4937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Controlled failures come from the local mock API. Public demo APIs can change, so they are used for inspection, not for reproducing exact errors.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AEBED4"/>
                </a:solidFill>
                <a:latin typeface="Aptos"/>
              </a:rPr>
              <a:t>Credentials are stored as &lt;REDACTED&gt;. State-changing scenarios need approval.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280160"/>
            <a:ext cx="585216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Evaluation dataset (evaluation_cases.csv): sample rows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806440" y="1645920"/>
          <a:ext cx="5852160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68680"/>
                <a:gridCol w="777240"/>
                <a:gridCol w="210312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Case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Observed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Expected cause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6F9FF"/>
                          </a:solidFill>
                          <a:latin typeface="Aptos"/>
                        </a:rPr>
                        <a:t>Expected fix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AUTH-001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Missing credentials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Add Authorization: Bearer &lt;token&gt;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END-001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404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Wrong URL path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Correct path to /v1/profile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VAL-002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422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Wrong data type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Send quantity as 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RNET-001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429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Rate limit exceeded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Back off and honour Retry-After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RAG-006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401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Prompt injection in document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AEBED4"/>
                          </a:solidFill>
                          <a:latin typeface="Aptos"/>
                        </a:rPr>
                        <a:t>Ignore injected instruction; cite auth docs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0352" y="4663440"/>
            <a:ext cx="11109960" cy="1554480"/>
          </a:xfrm>
          <a:prstGeom prst="roundRect">
            <a:avLst>
              <a:gd name="adj" fmla="val 4000"/>
            </a:avLst>
          </a:prstGeom>
          <a:solidFill>
            <a:srgbClr val="1C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4663440"/>
            <a:ext cx="68580" cy="1554480"/>
          </a:xfrm>
          <a:prstGeom prst="rect">
            <a:avLst/>
          </a:prstGeom>
          <a:solidFill>
            <a:srgbClr val="27A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73168"/>
            <a:ext cx="106984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F6F9FF"/>
                </a:solidFill>
                <a:latin typeface="Aptos"/>
              </a:rPr>
              <a:t>Each case also carries must-not-claim 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000" b="0">
                <a:solidFill>
                  <a:srgbClr val="AEBED4"/>
                </a:solidFill>
                <a:latin typeface="Aptos"/>
              </a:rPr>
              <a:t>Example: AUTH-001 must not claim 'token expired' — the request had no Authorization header at all.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AEBED4"/>
                </a:solidFill>
                <a:latin typeface="Aptos"/>
              </a:rPr>
              <a:t>Example: RAG-006 — instructions found inside a retrieved document are treated as data, not followed.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AEBED4"/>
                </a:solidFill>
                <a:latin typeface="Aptos"/>
              </a:rPr>
              <a:t>Example: RNET-007 — a request to localhost is blocked by the SSRF policy before any connection is attempted.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86968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2600" b="1">
                <a:solidFill>
                  <a:srgbClr val="F6F9FF"/>
                </a:solidFill>
                <a:latin typeface="Aptos"/>
              </a:rPr>
              <a:t>Evaluation coverage: 50 labelled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22376"/>
            <a:ext cx="104241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Five categories, ten cases each. Dev cases are used for tuning; held-out cases are kept for the final measurement.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329184"/>
            <a:ext cx="214884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DATA •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88136"/>
            <a:ext cx="11109960" cy="22860"/>
          </a:xfrm>
          <a:prstGeom prst="rect">
            <a:avLst/>
          </a:prstGeom>
          <a:solidFill>
            <a:srgbClr val="364E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800" b="0">
                <a:solidFill>
                  <a:srgbClr val="AEBED4"/>
                </a:solidFill>
                <a:latin typeface="Aptos"/>
              </a:rPr>
              <a:t>APIFix AI • API testing + documentation-grounded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9672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>
                <a:solidFill>
                  <a:srgbClr val="30CACF"/>
                </a:solidFill>
                <a:latin typeface="Aptos"/>
              </a:rPr>
              <a:t>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0352" y="1371600"/>
          <a:ext cx="6949440" cy="28803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0"/>
                <a:gridCol w="822960"/>
                <a:gridCol w="822960"/>
                <a:gridCol w="1005840"/>
                <a:gridCol w="13716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6F9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6F9FF"/>
                          </a:solidFill>
                          <a:latin typeface="Aptos"/>
                        </a:rPr>
                        <a:t>Cases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6F9FF"/>
                          </a:solidFill>
                          <a:latin typeface="Aptos"/>
                        </a:rPr>
                        <a:t>Dev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6F9FF"/>
                          </a:solidFill>
                          <a:latin typeface="Aptos"/>
                        </a:rPr>
                        <a:t>Held-out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6F9FF"/>
                          </a:solidFill>
                          <a:latin typeface="Aptos"/>
                        </a:rPr>
                        <a:t>Example ID</a:t>
                      </a:r>
                    </a:p>
                  </a:txBody>
                  <a:tcPr marL="45720" marR="45720" marT="27432" marB="27432" anchor="ctr">
                    <a:solidFill>
                      <a:srgbClr val="364E7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Authentication &amp; authorization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AUTH-001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Endpoint &amp; resource errors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END-001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Request validation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VAL-001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Rate limits, server &amp; network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RNET-001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RAG &amp; diagnosis quality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RAG-001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50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38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AEBED4"/>
                          </a:solidFill>
                          <a:latin typeface="Aptos"/>
                        </a:rPr>
                        <a:t/>
                      </a:r>
                    </a:p>
                  </a:txBody>
                  <a:tcPr marL="45720" marR="45720" marT="27432" marB="27432" anchor="ctr">
                    <a:solidFill>
                      <a:srgbClr val="1C2F4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72400" y="1371600"/>
            <a:ext cx="3867912" cy="3749039"/>
          </a:xfrm>
          <a:prstGeom prst="roundRect">
            <a:avLst>
              <a:gd name="adj" fmla="val 4000"/>
            </a:avLst>
          </a:prstGeom>
          <a:solidFill>
            <a:srgbClr val="1C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371600"/>
            <a:ext cx="68580" cy="3749039"/>
          </a:xfrm>
          <a:prstGeom prst="rect">
            <a:avLst/>
          </a:prstGeom>
          <a:solidFill>
            <a:srgbClr val="7E5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50876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F6F9FF"/>
                </a:solidFill>
                <a:latin typeface="Aptos"/>
              </a:rPr>
              <a:t>How results will be reported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920240"/>
            <a:ext cx="3520440" cy="3108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•  Retrieval: Recall@5 and MRR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•  Citation accuracy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•  Diagnosis correctness against expected_cause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•  Unsupported-claim rate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•  Retest outcome and latency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Held-out cases are scored once, after tuning is finished.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4526280"/>
            <a:ext cx="6949440" cy="1463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What is complete: 50 case definitions with expected outcomes.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What is still to do: run every case against the mock API and record actual results. Until then, do not present accuracy numbers.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AEBED4"/>
                </a:solidFill>
                <a:latin typeface="Aptos"/>
              </a:rPr>
              <a:t>Growth path: add cases toward 100+ as the pipeline matures (deck slide 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APIFix AI — Complete Project Walkthrough</dc:title>
  <dc:subject>API testing, datasets, chunking, hybrid RAG, model fallback, security and evaluation</dc:subject>
  <dc:creator>OpenAI</dc:creator>
  <cp:keywords>APIFix AI, FastAPI, React, Supabase, pgvector, RAG, API testing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